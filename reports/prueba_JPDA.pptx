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92" r:id="rId5"/>
    <p:sldId id="275" r:id="rId6"/>
    <p:sldId id="276" r:id="rId7"/>
    <p:sldId id="296" r:id="rId8"/>
    <p:sldId id="297" r:id="rId9"/>
    <p:sldId id="298" r:id="rId10"/>
    <p:sldId id="299" r:id="rId11"/>
    <p:sldId id="300" r:id="rId12"/>
    <p:sldId id="289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6992"/>
    <a:srgbClr val="AEC2D8"/>
    <a:srgbClr val="98432A"/>
    <a:srgbClr val="D84400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634"/>
  </p:normalViewPr>
  <p:slideViewPr>
    <p:cSldViewPr snapToGrid="0" showGuides="1">
      <p:cViewPr varScale="1">
        <p:scale>
          <a:sx n="66" d="100"/>
          <a:sy n="66" d="100"/>
        </p:scale>
        <p:origin x="816" y="66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914374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235818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9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077670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s-ES" noProof="0"/>
              <a:t>Haga clic para modificar el estilo de título del patrón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‹Nº›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altLang="zh-CN"/>
              <a:t>Haga clic en el icono para agregar una imagen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‹Nº›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‹Nº›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‹Nº›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‹Nº›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s-ES" altLang="zh-CN"/>
              <a:t>Haga clic en el icono para agregar una imagen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s-ES" altLang="zh-CN"/>
              <a:t>Haga clic en el icono para agregar una imagen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s-ES" altLang="zh-CN"/>
              <a:t>Haga clic en el icono para agregar una imagen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s-ES" altLang="zh-CN"/>
              <a:t>Haga clic en el icono para agregar una imagen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‹Nº›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s-ES" altLang="zh-CN"/>
              <a:t>Haga clic en el icono para agregar una imagen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s-ES" altLang="zh-CN"/>
              <a:t>Haga clic en el icono para agregar una imagen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s-ES" altLang="zh-CN"/>
              <a:t>Haga clic en el icono para agregar una imagen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s-ES" altLang="zh-CN"/>
              <a:t>Haga clic en el icono para agregar una imagen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s-ES" altLang="zh-CN"/>
              <a:t>Haga clic en el icono para agregar una imagen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s-ES" altLang="zh-CN"/>
              <a:t>Haga clic en el icono para agregar una imagen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s-ES" altLang="zh-CN"/>
              <a:t>Haga clic en el icono para agregar una imagen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s-ES" altLang="zh-CN"/>
              <a:t>Haga clic en el icono para agregar una imagen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‹Nº›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s-ES" altLang="zh-CN"/>
              <a:t>Haga clic en el icono para agregar una imagen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s-ES" altLang="zh-CN"/>
              <a:t>Haga clic en el icono para agregar una imagen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s-ES" altLang="zh-CN"/>
              <a:t>Haga clic en el icono para agregar una imagen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s-ES" altLang="zh-CN"/>
              <a:t>Haga clic en el icono para agregar una imagen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s-ES" altLang="zh-CN"/>
              <a:t>Haga clic en el icono para agregar una imagen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‹Nº›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‹Nº›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‹Nº›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s-ES" altLang="zh-CN"/>
              <a:t>Haga clic en el icono para agregar una imagen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‹Nº›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altLang="zh-CN"/>
              <a:t>Haga clic en el icono para agregar una imagen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altLang="zh-CN"/>
              <a:t>Haga clic en el icono para agregar una imagen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altLang="zh-CN"/>
              <a:t>Haga clic en el icono para agregar una imagen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‹Nº›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s-ES" altLang="zh-CN"/>
              <a:t>Haga clic en el icono para agregar una imagen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‹Nº›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s-ES" altLang="zh-CN"/>
              <a:t>Haga clic en el icono para agregar una imagen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s-ES" altLang="zh-CN"/>
              <a:t>Haga clic en el icono para agregar una imagen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s-ES" altLang="zh-CN"/>
              <a:t>Haga clic en el icono para agregar una imagen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s-ES" altLang="zh-CN"/>
              <a:t>Haga clic en el icono para agregar una imagen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‹Nº›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US" noProof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noProof="0"/>
              <a:t>Haga clic para modificar el estilo de título del patrón</a:t>
            </a:r>
            <a:endParaRPr lang="en-US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/3.0/" TargetMode="External"/><Relationship Id="rId3" Type="http://schemas.openxmlformats.org/officeDocument/2006/relationships/hyperlink" Target="https://freepngimg.com/png/26785-software-transparent" TargetMode="External"/><Relationship Id="rId7" Type="http://schemas.openxmlformats.org/officeDocument/2006/relationships/hyperlink" Target="https://pixabay.com/fr/la-r%C3%A9cursivit%C3%A9-ic%C3%B4ne-it%C3%A9ration-ic%C3%B4ne-2865934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png"/><Relationship Id="rId5" Type="http://schemas.openxmlformats.org/officeDocument/2006/relationships/hyperlink" Target="https://www.pngall.com/budget-png/download/63190" TargetMode="Externa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noProof="0" dirty="0"/>
              <a:t>¿Cómo escalar la transformación digital sin colapsar el talento operativo?</a:t>
            </a:r>
            <a:endParaRPr lang="es-CL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601365" y="4172084"/>
            <a:ext cx="2215891" cy="760288"/>
          </a:xfrm>
        </p:spPr>
        <p:txBody>
          <a:bodyPr/>
          <a:lstStyle/>
          <a:p>
            <a:r>
              <a:rPr lang="es-CL" noProof="0" dirty="0"/>
              <a:t>Juan Pablo Donoso</a:t>
            </a:r>
            <a:br>
              <a:rPr lang="es-CL" dirty="0"/>
            </a:br>
            <a:r>
              <a:rPr lang="es-CL" dirty="0"/>
              <a:t>TechCorp</a:t>
            </a:r>
            <a:endParaRPr lang="es-CL" noProof="0" dirty="0"/>
          </a:p>
        </p:txBody>
      </p:sp>
      <p:pic>
        <p:nvPicPr>
          <p:cNvPr id="30" name="Picture placeholder 29" descr="People in an office discussing work over a laptop&#10;">
            <a:extLst>
              <a:ext uri="{FF2B5EF4-FFF2-40B4-BE49-F238E27FC236}">
                <a16:creationId xmlns:a16="http://schemas.microsoft.com/office/drawing/2014/main" id="{18C88B4D-F554-49C2-A23C-DFE94D4C835B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75" r="1875"/>
          <a:stretch/>
        </p:blipFill>
        <p:spPr>
          <a:xfrm>
            <a:off x="6742557" y="821836"/>
            <a:ext cx="4405503" cy="5066346"/>
          </a:xfrm>
        </p:spPr>
      </p:pic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05" y="838985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5DF64211-DCD8-B458-DBD2-EBDA7AE3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noProof="0" dirty="0"/>
              <a:t>Contenidos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FEA3BB9-F064-CFBE-C0BE-BB7A22A4DCF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s-CL" dirty="0"/>
              <a:t>Contexto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8024C77-A2F8-1ABA-5412-E6BB88B5FA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s-CL" dirty="0"/>
              <a:t>Detonante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41202DB-E499-EB19-8A48-A3301DA59ED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s-CL" dirty="0"/>
              <a:t>Conflicto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5402852-C1AD-6A4E-DAA7-0AE582A742F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s-CL" dirty="0"/>
              <a:t>Revelación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BF1D337-2A3C-A0FB-A6CD-5E4B9D6DFD9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s-CL" noProof="0" dirty="0"/>
              <a:t>Solución y llamado a la acción</a:t>
            </a:r>
          </a:p>
        </p:txBody>
      </p:sp>
      <p:sp>
        <p:nvSpPr>
          <p:cNvPr id="21" name="Footer Placeholder 19">
            <a:extLst>
              <a:ext uri="{FF2B5EF4-FFF2-40B4-BE49-F238E27FC236}">
                <a16:creationId xmlns:a16="http://schemas.microsoft.com/office/drawing/2014/main" id="{A6E539FA-B60E-5585-524F-1BFA8C5B3E2F}"/>
              </a:ext>
            </a:extLst>
          </p:cNvPr>
          <p:cNvSpPr txBox="1">
            <a:spLocks/>
          </p:cNvSpPr>
          <p:nvPr/>
        </p:nvSpPr>
        <p:spPr>
          <a:xfrm>
            <a:off x="486699" y="6085719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Presentation</a:t>
            </a:r>
            <a:r>
              <a:rPr kumimoji="0" lang="es-CL" sz="12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6D0CF6-7418-9349-F7A8-045EA96B2D03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s-MX" noProof="0" dirty="0"/>
              <a:t>¿Cómo escalar la transformación digital sin colapsar el talento operativo?</a:t>
            </a:r>
            <a:endParaRPr lang="es-CL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BE681AB-301C-4DC8-7FBD-FAA2CC6606A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s-CL" noProof="0" smtClean="0"/>
              <a:pPr/>
              <a:t>2</a:t>
            </a:fld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2775535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noProof="0" dirty="0"/>
              <a:t>Para comenzar: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s-MX" sz="1800" noProof="0" dirty="0"/>
              <a:t>Evaluación integral del impacto, rentabilidad y fricción humana en TechCorp tras 18 meses de digitalización.</a:t>
            </a:r>
            <a:endParaRPr lang="es-CL" sz="1800" noProof="0" dirty="0"/>
          </a:p>
          <a:p>
            <a:endParaRPr lang="es-CL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1EC1F-42C9-66C4-9D49-F6AF79D5BE91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/>
          <a:lstStyle/>
          <a:p>
            <a:r>
              <a:rPr lang="es-MX" dirty="0"/>
              <a:t>¿Cómo escalar la transformación digital sin colapsar el talento operativo?</a:t>
            </a:r>
            <a:endParaRPr lang="es-CL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8C4B5C6A-45B4-1976-622A-4CEB4E3211B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3"/>
          <a:srcRect/>
          <a:stretch/>
        </p:blipFill>
        <p:spPr>
          <a:xfrm>
            <a:off x="4165600" y="0"/>
            <a:ext cx="8026401" cy="6858000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767F8-4670-E83D-85F4-1446B8B9D466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s-CL" noProof="0" smtClean="0"/>
              <a:pPr/>
              <a:t>3</a:t>
            </a:fld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AD8ABB52-024D-08F8-D810-880AEDA76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3438748" cy="1418998"/>
          </a:xfrm>
        </p:spPr>
        <p:txBody>
          <a:bodyPr/>
          <a:lstStyle/>
          <a:p>
            <a:r>
              <a:rPr lang="es-CL" dirty="0"/>
              <a:t>Contexto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D72B53-4C2F-96FB-AB85-EAEBF8BA64A7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s-MX" dirty="0"/>
              <a:t>¿Cómo escalar la transformación digital sin colapsar el talento operativo?</a:t>
            </a:r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13D9CE-49D7-6F20-8FB3-A8BB61FA231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4</a:t>
            </a:fld>
            <a:endParaRPr lang="en-US" altLang="zh-CN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578BAC0-4893-746C-776F-07754C88F483}"/>
              </a:ext>
            </a:extLst>
          </p:cNvPr>
          <p:cNvSpPr txBox="1"/>
          <p:nvPr/>
        </p:nvSpPr>
        <p:spPr>
          <a:xfrm>
            <a:off x="4034971" y="682171"/>
            <a:ext cx="7436534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s-MX" sz="1800" dirty="0">
                <a:solidFill>
                  <a:schemeClr val="tx2"/>
                </a:solidFill>
                <a:latin typeface="Abadi" panose="020B0604020104020204" pitchFamily="34" charset="0"/>
                <a:ea typeface="微软雅黑"/>
                <a:cs typeface="Posterama" panose="020B0504020200020000" pitchFamily="34" charset="0"/>
              </a:rPr>
              <a:t>Así veníamos operando: </a:t>
            </a:r>
            <a:r>
              <a:rPr lang="es-MX" sz="1800" b="1" dirty="0">
                <a:solidFill>
                  <a:schemeClr val="tx2"/>
                </a:solidFill>
                <a:latin typeface="Abadi" panose="020B0604020104020204" pitchFamily="34" charset="0"/>
                <a:ea typeface="微软雅黑"/>
                <a:cs typeface="Posterama" panose="020B0504020200020000" pitchFamily="34" charset="0"/>
              </a:rPr>
              <a:t>procesos manuales, baja adopción y rentabilidad en rojo.</a:t>
            </a:r>
            <a:endParaRPr lang="en-US" sz="1800" b="1" dirty="0">
              <a:solidFill>
                <a:schemeClr val="tx2"/>
              </a:solidFill>
              <a:latin typeface="Abadi" panose="020B0604020104020204" pitchFamily="34" charset="0"/>
              <a:ea typeface="微软雅黑"/>
              <a:cs typeface="Posterama" panose="020B0504020200020000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305D2AF4-6C65-6A45-30CD-3416DFAF89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95" t="4349" r="4564" b="4517"/>
          <a:stretch>
            <a:fillRect/>
          </a:stretch>
        </p:blipFill>
        <p:spPr>
          <a:xfrm>
            <a:off x="7099831" y="1532390"/>
            <a:ext cx="3438748" cy="346891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6CA66D2F-D407-6C1A-745D-52B906BB9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09" y="1532390"/>
            <a:ext cx="6518122" cy="460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205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CB0D8-4701-3404-0F82-D59633596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89FA593C-6A53-97E6-BFEF-8273D8774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3438748" cy="1418998"/>
          </a:xfrm>
        </p:spPr>
        <p:txBody>
          <a:bodyPr/>
          <a:lstStyle/>
          <a:p>
            <a:r>
              <a:rPr lang="es-CL" dirty="0"/>
              <a:t>Detonante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A0A8E7-40B9-0E72-7B16-31C369C613E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s-MX" dirty="0"/>
              <a:t>¿Cómo escalar la transformación digital sin colapsar el talento operativo?</a:t>
            </a:r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C8D276-D782-BB51-2A2B-94AEB042F748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5</a:t>
            </a:fld>
            <a:endParaRPr lang="en-US" altLang="zh-CN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C6BC337-2E93-8B20-5AFF-040EF40EFC23}"/>
              </a:ext>
            </a:extLst>
          </p:cNvPr>
          <p:cNvSpPr txBox="1"/>
          <p:nvPr/>
        </p:nvSpPr>
        <p:spPr>
          <a:xfrm>
            <a:off x="4034971" y="682171"/>
            <a:ext cx="7436534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s-MX" sz="1800" dirty="0">
                <a:solidFill>
                  <a:schemeClr val="tx2"/>
                </a:solidFill>
                <a:latin typeface="Abadi" panose="020B0604020104020204" pitchFamily="34" charset="0"/>
                <a:ea typeface="微软雅黑"/>
                <a:cs typeface="Posterama" panose="020B0504020200020000" pitchFamily="34" charset="0"/>
              </a:rPr>
              <a:t>En Q2 2024, la </a:t>
            </a:r>
            <a:r>
              <a:rPr lang="es-MX" sz="1800" b="1" dirty="0">
                <a:solidFill>
                  <a:schemeClr val="tx2"/>
                </a:solidFill>
                <a:latin typeface="Abadi" panose="020B0604020104020204" pitchFamily="34" charset="0"/>
                <a:ea typeface="微软雅黑"/>
                <a:cs typeface="Posterama" panose="020B0504020200020000" pitchFamily="34" charset="0"/>
              </a:rPr>
              <a:t>adopción superó el 95% </a:t>
            </a:r>
            <a:r>
              <a:rPr lang="es-MX" sz="1800" dirty="0">
                <a:solidFill>
                  <a:schemeClr val="tx2"/>
                </a:solidFill>
                <a:latin typeface="Abadi" panose="020B0604020104020204" pitchFamily="34" charset="0"/>
                <a:ea typeface="微软雅黑"/>
                <a:cs typeface="Posterama" panose="020B0504020200020000" pitchFamily="34" charset="0"/>
              </a:rPr>
              <a:t>y el modelo financiero </a:t>
            </a:r>
            <a:r>
              <a:rPr lang="es-MX" sz="1800" b="1" dirty="0">
                <a:solidFill>
                  <a:schemeClr val="tx2"/>
                </a:solidFill>
                <a:latin typeface="Abadi" panose="020B0604020104020204" pitchFamily="34" charset="0"/>
                <a:ea typeface="微软雅黑"/>
                <a:cs typeface="Posterama" panose="020B0504020200020000" pitchFamily="34" charset="0"/>
              </a:rPr>
              <a:t>quebró la inercia</a:t>
            </a:r>
            <a:r>
              <a:rPr lang="es-MX" sz="1800" dirty="0">
                <a:solidFill>
                  <a:schemeClr val="tx2"/>
                </a:solidFill>
                <a:latin typeface="Abadi" panose="020B0604020104020204" pitchFamily="34" charset="0"/>
                <a:ea typeface="微软雅黑"/>
                <a:cs typeface="Posterama" panose="020B0504020200020000" pitchFamily="34" charset="0"/>
              </a:rPr>
              <a:t>.</a:t>
            </a:r>
            <a:endParaRPr lang="en-US" sz="1800" b="1" dirty="0">
              <a:solidFill>
                <a:schemeClr val="tx2"/>
              </a:solidFill>
              <a:latin typeface="Abadi" panose="020B0604020104020204" pitchFamily="34" charset="0"/>
              <a:ea typeface="微软雅黑"/>
              <a:cs typeface="Posterama" panose="020B0504020200020000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2012E69-0517-8D36-89C0-76C05DF3DE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44" t="4361" r="5909" b="6099"/>
          <a:stretch>
            <a:fillRect/>
          </a:stretch>
        </p:blipFill>
        <p:spPr>
          <a:xfrm>
            <a:off x="7099831" y="1532391"/>
            <a:ext cx="3436371" cy="351858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74F491F2-C3EF-F16E-9519-C1632E186D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1709" y="1532391"/>
            <a:ext cx="6518122" cy="425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4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F01F5-AFEF-607B-0543-43BD7642A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0904B27-D911-7186-B997-58FC3154C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3438748" cy="1418998"/>
          </a:xfrm>
        </p:spPr>
        <p:txBody>
          <a:bodyPr/>
          <a:lstStyle/>
          <a:p>
            <a:r>
              <a:rPr lang="es-CL" dirty="0"/>
              <a:t>Conflicto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EA5D13-2B07-76A2-7CF8-5A25F8AD57D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s-MX" dirty="0"/>
              <a:t>¿Cómo escalar la transformación digital sin colapsar el talento operativo?</a:t>
            </a:r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FC4FF2-A07C-9971-BC24-53086D09FA57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6</a:t>
            </a:fld>
            <a:endParaRPr lang="en-US" altLang="zh-CN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5C68435-A320-CA67-FF32-0A0093847052}"/>
              </a:ext>
            </a:extLst>
          </p:cNvPr>
          <p:cNvSpPr txBox="1"/>
          <p:nvPr/>
        </p:nvSpPr>
        <p:spPr>
          <a:xfrm>
            <a:off x="4034971" y="682171"/>
            <a:ext cx="7436534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s-MX" sz="1800" dirty="0">
                <a:solidFill>
                  <a:schemeClr val="tx2"/>
                </a:solidFill>
                <a:latin typeface="Abadi" panose="020B0604020104020204" pitchFamily="34" charset="0"/>
                <a:ea typeface="微软雅黑"/>
                <a:cs typeface="Posterama" panose="020B0504020200020000" pitchFamily="34" charset="0"/>
              </a:rPr>
              <a:t>El éxito operativo en planta se financia con </a:t>
            </a:r>
            <a:r>
              <a:rPr lang="es-MX" sz="1800" b="1" dirty="0">
                <a:solidFill>
                  <a:schemeClr val="tx2"/>
                </a:solidFill>
                <a:latin typeface="Abadi" panose="020B0604020104020204" pitchFamily="34" charset="0"/>
                <a:ea typeface="微软雅黑"/>
                <a:cs typeface="Posterama" panose="020B0504020200020000" pitchFamily="34" charset="0"/>
              </a:rPr>
              <a:t>agotamiento en soporte técnico y horas extra</a:t>
            </a:r>
            <a:r>
              <a:rPr lang="es-MX" sz="1800" dirty="0">
                <a:solidFill>
                  <a:schemeClr val="tx2"/>
                </a:solidFill>
                <a:latin typeface="Abadi" panose="020B0604020104020204" pitchFamily="34" charset="0"/>
                <a:ea typeface="微软雅黑"/>
                <a:cs typeface="Posterama" panose="020B0504020200020000" pitchFamily="34" charset="0"/>
              </a:rPr>
              <a:t>.</a:t>
            </a:r>
            <a:endParaRPr lang="en-US" sz="1800" b="1" dirty="0">
              <a:solidFill>
                <a:schemeClr val="tx2"/>
              </a:solidFill>
              <a:latin typeface="Abadi" panose="020B0604020104020204" pitchFamily="34" charset="0"/>
              <a:ea typeface="微软雅黑"/>
              <a:cs typeface="Posterama" panose="020B0504020200020000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2BC2E3B-CBE0-32FA-EC4C-CF4FBF7504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39" t="4712" r="7322" b="4125"/>
          <a:stretch>
            <a:fillRect/>
          </a:stretch>
        </p:blipFill>
        <p:spPr>
          <a:xfrm>
            <a:off x="7099830" y="1532391"/>
            <a:ext cx="3442511" cy="360566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ED7D6F9-B1EB-DCB4-C9FB-84879B5D33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1709" y="1532392"/>
            <a:ext cx="6518122" cy="4476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64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7077-3C49-0513-D297-D26985ACF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2C280D4F-FB50-185A-0D1C-F939F8DF8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3438748" cy="1418998"/>
          </a:xfrm>
        </p:spPr>
        <p:txBody>
          <a:bodyPr/>
          <a:lstStyle/>
          <a:p>
            <a:r>
              <a:rPr lang="es-CL" dirty="0"/>
              <a:t>Revelación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2B27E7-1711-AD75-F6EA-166AF5114395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s-MX" dirty="0"/>
              <a:t>¿Cómo escalar la transformación digital sin colapsar el talento operativo?</a:t>
            </a:r>
            <a:endParaRPr lang="es-CL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9B6F64-29D0-DF84-1555-9140F3488B48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7</a:t>
            </a:fld>
            <a:endParaRPr lang="en-US" altLang="zh-CN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60D44B7-D057-6D76-EEA8-DECD82AFFF2B}"/>
              </a:ext>
            </a:extLst>
          </p:cNvPr>
          <p:cNvSpPr txBox="1"/>
          <p:nvPr/>
        </p:nvSpPr>
        <p:spPr>
          <a:xfrm>
            <a:off x="4034971" y="682171"/>
            <a:ext cx="7436534" cy="92333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s-MX" sz="1800" dirty="0">
                <a:solidFill>
                  <a:schemeClr val="tx2"/>
                </a:solidFill>
                <a:latin typeface="Abadi" panose="020B0604020104020204" pitchFamily="34" charset="0"/>
                <a:ea typeface="微软雅黑"/>
                <a:cs typeface="Posterama" panose="020B0504020200020000" pitchFamily="34" charset="0"/>
              </a:rPr>
              <a:t>El problema no es la resistencia al cambio de los operarios (que bajó a 2/10), </a:t>
            </a:r>
            <a:r>
              <a:rPr lang="es-MX" sz="1800" b="1" dirty="0">
                <a:solidFill>
                  <a:schemeClr val="tx2"/>
                </a:solidFill>
                <a:latin typeface="Abadi" panose="020B0604020104020204" pitchFamily="34" charset="0"/>
                <a:ea typeface="微软雅黑"/>
                <a:cs typeface="Posterama" panose="020B0504020200020000" pitchFamily="34" charset="0"/>
              </a:rPr>
              <a:t>sino una deuda estructural de talento TI </a:t>
            </a:r>
            <a:r>
              <a:rPr lang="es-MX" sz="1800" dirty="0">
                <a:solidFill>
                  <a:schemeClr val="tx2"/>
                </a:solidFill>
                <a:latin typeface="Abadi" panose="020B0604020104020204" pitchFamily="34" charset="0"/>
                <a:ea typeface="微软雅黑"/>
                <a:cs typeface="Posterama" panose="020B0504020200020000" pitchFamily="34" charset="0"/>
              </a:rPr>
              <a:t>(20 vacantes vacías) y </a:t>
            </a:r>
            <a:r>
              <a:rPr lang="es-MX" sz="1800" b="1" dirty="0">
                <a:solidFill>
                  <a:schemeClr val="tx2"/>
                </a:solidFill>
                <a:latin typeface="Abadi" panose="020B0604020104020204" pitchFamily="34" charset="0"/>
                <a:ea typeface="微软雅黑"/>
                <a:cs typeface="Posterama" panose="020B0504020200020000" pitchFamily="34" charset="0"/>
              </a:rPr>
              <a:t>8.5 horas extra semanales</a:t>
            </a:r>
            <a:r>
              <a:rPr lang="es-MX" sz="1800" dirty="0">
                <a:solidFill>
                  <a:schemeClr val="tx2"/>
                </a:solidFill>
                <a:latin typeface="Abadi" panose="020B0604020104020204" pitchFamily="34" charset="0"/>
                <a:ea typeface="微软雅黑"/>
                <a:cs typeface="Posterama" panose="020B0504020200020000" pitchFamily="34" charset="0"/>
              </a:rPr>
              <a:t>.</a:t>
            </a:r>
            <a:endParaRPr lang="en-US" sz="1800" b="1" dirty="0">
              <a:solidFill>
                <a:schemeClr val="tx2"/>
              </a:solidFill>
              <a:latin typeface="Abadi" panose="020B0604020104020204" pitchFamily="34" charset="0"/>
              <a:ea typeface="微软雅黑"/>
              <a:cs typeface="Posterama" panose="020B0504020200020000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4D512DB-02FA-D7C8-48E7-6F05F7C20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708" y="1605501"/>
            <a:ext cx="9578291" cy="453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545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452F6-EAEB-5346-D68D-60A627B0C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979125-CFDB-5E6E-B7F3-877A059313B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s-CL" dirty="0"/>
              <a:t>1. Congelar </a:t>
            </a:r>
            <a:r>
              <a:rPr lang="es-MX" dirty="0"/>
              <a:t>temporalmente la compra de nuevas licencias de software</a:t>
            </a:r>
            <a:endParaRPr lang="en-U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81EA643-6288-5755-56FD-3F578E54F94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s-CL" dirty="0"/>
              <a:t>Proceso digitalizado al 86%.</a:t>
            </a:r>
            <a:endParaRPr lang="en-US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9DCDBA1A-6CB9-5D0B-6918-E15B177B7F0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s-CL" dirty="0"/>
              <a:t>2. </a:t>
            </a:r>
            <a:r>
              <a:rPr lang="es-MX" dirty="0"/>
              <a:t>Reasignar el 35% del presupuesto tecnológico</a:t>
            </a:r>
            <a:endParaRPr lang="en-US" dirty="0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17D98936-663D-48C1-53D1-69A10F09403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s-CL" dirty="0"/>
              <a:t>3. </a:t>
            </a:r>
            <a:r>
              <a:rPr lang="es-MX" dirty="0"/>
              <a:t>Automatizar la mesa de ayuda de Nivel 1</a:t>
            </a:r>
            <a:endParaRPr lang="en-US" dirty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994933F1-495A-6E00-3DB7-DD385903E71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es-MX" dirty="0"/>
              <a:t>A la cobertura prioritaria de las 20 vacantes técnicas pendientes.</a:t>
            </a:r>
            <a:endParaRPr lang="en-US" dirty="0"/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BE488506-3336-56AC-1718-BCAE5A0135D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s-MX" dirty="0"/>
              <a:t>Para drenar el volumen de tickets mensuales a menos de 100.</a:t>
            </a:r>
            <a:endParaRPr lang="en-US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270C958B-D75C-6119-A18A-6A1EA34F7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Solución</a:t>
            </a:r>
            <a:endParaRPr lang="en-US" dirty="0"/>
          </a:p>
        </p:txBody>
      </p:sp>
      <p:pic>
        <p:nvPicPr>
          <p:cNvPr id="17" name="Marcador de posición de imagen 16">
            <a:extLst>
              <a:ext uri="{FF2B5EF4-FFF2-40B4-BE49-F238E27FC236}">
                <a16:creationId xmlns:a16="http://schemas.microsoft.com/office/drawing/2014/main" id="{BC80BE4C-3231-521B-7D6A-E47A1FD8A051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5182" r="5182"/>
          <a:stretch>
            <a:fillRect/>
          </a:stretch>
        </p:blipFill>
        <p:spPr/>
      </p:pic>
      <p:pic>
        <p:nvPicPr>
          <p:cNvPr id="20" name="Marcador de posición de imagen 19">
            <a:extLst>
              <a:ext uri="{FF2B5EF4-FFF2-40B4-BE49-F238E27FC236}">
                <a16:creationId xmlns:a16="http://schemas.microsoft.com/office/drawing/2014/main" id="{EBC974BF-B297-CCEB-D488-5411BCB4E384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2616" r="2616"/>
          <a:stretch/>
        </p:blipFill>
        <p:spPr/>
      </p:pic>
      <p:pic>
        <p:nvPicPr>
          <p:cNvPr id="23" name="Marcador de posición de imagen 22">
            <a:extLst>
              <a:ext uri="{FF2B5EF4-FFF2-40B4-BE49-F238E27FC236}">
                <a16:creationId xmlns:a16="http://schemas.microsoft.com/office/drawing/2014/main" id="{8D06F340-E78E-21B8-8175-8466EA0D9461}"/>
              </a:ext>
            </a:extLst>
          </p:cNvPr>
          <p:cNvPicPr>
            <a:picLocks noGrp="1" noChangeAspect="1"/>
          </p:cNvPicPr>
          <p:nvPr>
            <p:ph type="pic" sz="quarter" idx="38"/>
          </p:nvPr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rcRect l="2528" r="2528"/>
          <a:stretch>
            <a:fillRect/>
          </a:stretch>
        </p:blipFill>
        <p:spPr/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B575C4-0FB3-F8F5-9846-9ABFCB0759C0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8</a:t>
            </a:fld>
            <a:endParaRPr lang="en-US" altLang="zh-CN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C2700E-5028-B285-E004-AB70A3031FE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218238"/>
            <a:ext cx="4114800" cy="365125"/>
          </a:xfrm>
        </p:spPr>
        <p:txBody>
          <a:bodyPr/>
          <a:lstStyle/>
          <a:p>
            <a:r>
              <a:rPr lang="es-MX" dirty="0"/>
              <a:t>¿Cómo escalar la transformación digital sin colapsar el talento operativo?</a:t>
            </a:r>
            <a:endParaRPr lang="es-CL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711F495-87AE-475A-EB36-8F9C7DE16C3A}"/>
              </a:ext>
            </a:extLst>
          </p:cNvPr>
          <p:cNvSpPr txBox="1"/>
          <p:nvPr/>
        </p:nvSpPr>
        <p:spPr>
          <a:xfrm>
            <a:off x="4488061" y="1707551"/>
            <a:ext cx="1000000" cy="92333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freepngimg.com/png/26785-software-transparent"/>
              </a:rPr>
              <a:t>Esta foto</a:t>
            </a:r>
            <a:r>
              <a:rPr lang="en-US" sz="900"/>
              <a:t> de Autor desconocido está bajo licencia </a:t>
            </a:r>
            <a:r>
              <a:rPr lang="en-US" sz="900">
                <a:hlinkClick r:id="rId8" tooltip="https://creativecommons.org/licenses/by-nc/3.0/"/>
              </a:rPr>
              <a:t>CC BY-NC</a:t>
            </a:r>
            <a:endParaRPr lang="en-US" sz="90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B45A8D1-8BC4-9B90-E3BC-D46B01A86287}"/>
              </a:ext>
            </a:extLst>
          </p:cNvPr>
          <p:cNvSpPr txBox="1"/>
          <p:nvPr/>
        </p:nvSpPr>
        <p:spPr>
          <a:xfrm>
            <a:off x="4492840" y="3671532"/>
            <a:ext cx="1000000" cy="92333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900">
                <a:hlinkClick r:id="rId5" tooltip="https://www.pngall.com/budget-png/download/63190"/>
              </a:rPr>
              <a:t>Esta foto</a:t>
            </a:r>
            <a:r>
              <a:rPr lang="en-US" sz="900"/>
              <a:t> de Autor desconocido está bajo licencia </a:t>
            </a:r>
            <a:r>
              <a:rPr lang="en-US" sz="900">
                <a:hlinkClick r:id="rId8" tooltip="https://creativecommons.org/licenses/by-nc/3.0/"/>
              </a:rPr>
              <a:t>CC BY-NC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558396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noProof="0" dirty="0"/>
              <a:t>Gracias</a:t>
            </a:r>
          </a:p>
        </p:txBody>
      </p:sp>
      <p:pic>
        <p:nvPicPr>
          <p:cNvPr id="14" name="Picture Placeholder 13" descr="People working in office">
            <a:extLst>
              <a:ext uri="{FF2B5EF4-FFF2-40B4-BE49-F238E27FC236}">
                <a16:creationId xmlns:a16="http://schemas.microsoft.com/office/drawing/2014/main" id="{496155F4-61B2-441D-9F16-788866450DA2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6" name="Picture Placeholder 15" descr="People in an office discussing work over a laptop&#10;">
            <a:extLst>
              <a:ext uri="{FF2B5EF4-FFF2-40B4-BE49-F238E27FC236}">
                <a16:creationId xmlns:a16="http://schemas.microsoft.com/office/drawing/2014/main" id="{BCD5762E-DD49-42B3-9CA8-46A4AD7193E2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8" name="Picture Placeholder 17" descr="Layout of website design sketches on white paper">
            <a:extLst>
              <a:ext uri="{FF2B5EF4-FFF2-40B4-BE49-F238E27FC236}">
                <a16:creationId xmlns:a16="http://schemas.microsoft.com/office/drawing/2014/main" id="{1051CD21-1408-4D13-BF0B-0D7013AD2D0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s-CL" noProof="0" dirty="0"/>
              <a:t>Juan Pablo Donoso</a:t>
            </a:r>
          </a:p>
          <a:p>
            <a:pPr lvl="0"/>
            <a:r>
              <a:rPr lang="es-CL" noProof="0" dirty="0"/>
              <a:t>juanpablo@techcorp.com</a:t>
            </a:r>
          </a:p>
          <a:p>
            <a:pPr lvl="0"/>
            <a:r>
              <a:rPr lang="es-CL" noProof="0" dirty="0"/>
              <a:t>www.techcorp.com</a:t>
            </a:r>
          </a:p>
          <a:p>
            <a:endParaRPr lang="es-CL" noProof="0" dirty="0"/>
          </a:p>
        </p:txBody>
      </p:sp>
      <p:pic>
        <p:nvPicPr>
          <p:cNvPr id="28" name="Picture Placeholder 27" descr="Businesswoman reviewing sticky notes on a wall">
            <a:extLst>
              <a:ext uri="{FF2B5EF4-FFF2-40B4-BE49-F238E27FC236}">
                <a16:creationId xmlns:a16="http://schemas.microsoft.com/office/drawing/2014/main" id="{B746A775-E65C-70F6-9DB4-E51F7F2DAECE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173</TotalTime>
  <Words>325</Words>
  <Application>Microsoft Office PowerPoint</Application>
  <PresentationFormat>Panorámica</PresentationFormat>
  <Paragraphs>50</Paragraphs>
  <Slides>9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等线</vt:lpstr>
      <vt:lpstr>Abadi</vt:lpstr>
      <vt:lpstr>Arial</vt:lpstr>
      <vt:lpstr>Calibri</vt:lpstr>
      <vt:lpstr>Posterama Text Black</vt:lpstr>
      <vt:lpstr>Posterama Text SemiBold</vt:lpstr>
      <vt:lpstr>Custom​​</vt:lpstr>
      <vt:lpstr>¿Cómo escalar la transformación digital sin colapsar el talento operativo?</vt:lpstr>
      <vt:lpstr>Contenidos</vt:lpstr>
      <vt:lpstr>Para comenzar:</vt:lpstr>
      <vt:lpstr>Contexto</vt:lpstr>
      <vt:lpstr>Detonante</vt:lpstr>
      <vt:lpstr>Conflicto</vt:lpstr>
      <vt:lpstr>Revelación</vt:lpstr>
      <vt:lpstr>Solución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Pablo Donoso Aedo</dc:creator>
  <cp:lastModifiedBy>Juan Pablo Donoso Aedo</cp:lastModifiedBy>
  <cp:revision>1</cp:revision>
  <dcterms:created xsi:type="dcterms:W3CDTF">2026-08-31T00:24:31Z</dcterms:created>
  <dcterms:modified xsi:type="dcterms:W3CDTF">2026-08-31T03:17:47Z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